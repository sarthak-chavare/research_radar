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374" r:id="rId2"/>
    <p:sldId id="375" r:id="rId3"/>
    <p:sldId id="384" r:id="rId4"/>
    <p:sldId id="257" r:id="rId5"/>
    <p:sldId id="376" r:id="rId6"/>
    <p:sldId id="377" r:id="rId7"/>
    <p:sldId id="378" r:id="rId8"/>
    <p:sldId id="385" r:id="rId9"/>
    <p:sldId id="379" r:id="rId10"/>
    <p:sldId id="380" r:id="rId11"/>
    <p:sldId id="382" r:id="rId12"/>
    <p:sldId id="38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9991" autoAdjust="0"/>
    <p:restoredTop sz="94660"/>
  </p:normalViewPr>
  <p:slideViewPr>
    <p:cSldViewPr snapToGrid="0">
      <p:cViewPr>
        <p:scale>
          <a:sx n="60" d="100"/>
          <a:sy n="60" d="100"/>
        </p:scale>
        <p:origin x="1320" y="6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arthak Chavare" userId="e747438cce9b5d54" providerId="LiveId" clId="{0F480D4D-42D8-46E6-ACFD-C72C7CF08648}"/>
    <pc:docChg chg="modSld">
      <pc:chgData name="Sarthak Chavare" userId="e747438cce9b5d54" providerId="LiveId" clId="{0F480D4D-42D8-46E6-ACFD-C72C7CF08648}" dt="2026-05-08T18:01:15.748" v="8" actId="20577"/>
      <pc:docMkLst>
        <pc:docMk/>
      </pc:docMkLst>
      <pc:sldChg chg="modSp mod">
        <pc:chgData name="Sarthak Chavare" userId="e747438cce9b5d54" providerId="LiveId" clId="{0F480D4D-42D8-46E6-ACFD-C72C7CF08648}" dt="2026-05-08T18:01:15.748" v="8" actId="20577"/>
        <pc:sldMkLst>
          <pc:docMk/>
          <pc:sldMk cId="2354731951" sldId="374"/>
        </pc:sldMkLst>
        <pc:spChg chg="mod">
          <ac:chgData name="Sarthak Chavare" userId="e747438cce9b5d54" providerId="LiveId" clId="{0F480D4D-42D8-46E6-ACFD-C72C7CF08648}" dt="2026-05-08T18:01:15.748" v="8" actId="20577"/>
          <ac:spMkLst>
            <pc:docMk/>
            <pc:sldMk cId="2354731951" sldId="374"/>
            <ac:spMk id="100" creationId="{DD060EA0-A6D1-484F-8987-38123CE63233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6BAFF0E-449D-426B-83E6-7E557F3BCD7F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C2ADFC2-4656-49F6-8F5B-84313FD65219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31282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577325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17B554-9607-617D-B226-254112D2B8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F07B0CE-D13E-90F3-4848-681AC5D1DAAF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D52B3E2C-962B-61C6-2BCC-829ABBD2BE2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FB3554B-96D4-9971-EE00-69E860658B14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004776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61412648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7886537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712694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25317F-B3D7-0BC4-0B28-37CF2B5AED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560B556-E6E8-D07C-6103-4A55D49D4CF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2E281B44-FCD4-F5FB-1EA5-24E8DE478A2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D684B8A-3A96-5F48-A2B0-78B8442E59B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0955455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8213386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5130687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895355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03243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E264D7-FD5D-4592-B4BA-0A1638C2827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4322DA6-5CC0-4908-AB19-3BCB77EFC6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FF6F72-5872-4CEB-A8C1-89CFCA5497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246BC3D-6474-4263-9B99-5E9D15575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A2E46B-395F-44BB-A399-301BD8986F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032593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D59695-79A9-4446-91E3-05E7FE7A150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A66FC54-E211-48A1-8BCA-378B4D4D3A7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325B42F-19A5-4F50-9CDF-42D673EB06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AEB133-FF63-4CDE-83A1-44AF473A23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2E08C-2449-4EE7-85C3-B82B566620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301206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7626C4-320A-4799-9AE2-8DDE1CA618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DC3420-268D-4A73-990C-4BA3150862C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0319061-FA9F-4CD9-8574-300E0E8997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C8B69E-7D13-401E-BA52-560698F8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90F2BDD-5AC8-4AE3-8868-F8CC1DA764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86945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E219AC-BA64-4335-BA9B-DF3911CCE5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78DA36-87D1-4E4A-8D55-031DDA30864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205276BB-4B19-4B31-A15F-D171E88D889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8E846C6-E4EC-417D-8F33-F85084C30A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EC9D499-DC6A-4178-AFA3-2E2D44FD32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E19571-DCCE-45D8-8783-EA6DC03D8E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19390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878171-0F87-491D-955D-347FAE8D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23EC69-5405-4A73-84BD-F54C9837DBE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0A1D5BF-B1AE-44F7-BF58-8E4B057CDDF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07E8175-A0D7-4248-A114-5AC9DF51165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4338F68-9ACA-4AC9-B3EC-D38E662B2A8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1F9F48F-32B7-4E62-920E-426CD4A43E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F7049EB-BDFC-47EA-9692-76B7389433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573FA-F1A3-4137-8DF6-8477A299D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65419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EC694-79DB-4363-B1A5-15A50E69FF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4B602A-C477-4739-9033-AA90AEB95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BE378F1-E22C-4E55-9DDB-BB46A0C14B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F5B7E4F-F4BD-47E4-8AF4-FE65D6600CE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7368784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9180C5E-189E-4B16-8B64-6164F629D5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6B3E471-C627-4A6F-8940-20A4EE7AC0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9F3B9AE-03BF-4E26-AF08-84460AF45A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074987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665660-5922-4086-9079-F98C845BCC0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8CA404-6545-4C37-A301-16A160A0078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D04D32-44ED-4022-9B36-1EE734ED65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938BFFD-8B76-47E2-B9FB-5194F01013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ED40FA1-8D0A-4E4C-9953-054729FB87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DA9A4A1-B2D3-4598-9C16-19E3F974E0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353879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57357B-DBC0-436F-82C9-9BE7A6D463B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5CAA78A-18AB-4BC5-BEFE-4D14122FCE8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76BB34-FC6B-48B7-88A4-726F5473541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9AB742C-BF4E-4140-8947-871247A335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521326A-4386-47BF-8036-878141A473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085A690-66C4-49A2-AFF2-86E9646D82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726035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0FD690-141F-4B82-AAA6-311E8BB6E8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25DCD3E-D233-4229-9571-4585EFE5231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212A0F7-FDB1-43FF-A571-32B80EE101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4B04E9-3520-49DA-836F-CFFB881FBD4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DEC8C8B-43E3-4E78-9BFA-28431143D9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45272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6DD375-6C7A-403C-8B36-D5D3CFCF0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9BF1880-F132-48C9-9D79-CA506843404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EB219E-CEFA-45B4-9588-67FAD5B86F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A014DA2-B751-43ED-834C-17F142F9ED8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DBFD0-8FFE-4F10-9A8D-DC32F22945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6728802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4054054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5D61A3F-7420-4211-A9AF-443ACDC04E6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8A53A93-B55A-4668-86F8-9483DF49D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CE196E0-46F1-4FF9-A486-7116F5016B0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D7F44E2-D9AA-43EA-B93A-EEC6CDC19CD5}" type="datetimeFigureOut">
              <a:rPr lang="en-IN" smtClean="0"/>
              <a:t>08-05-2026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B0E07B5-C98B-47C4-829C-B640A6AEE91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113DEB-9452-48C6-802D-EC521E6023C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EC16B2-A79F-4EF3-B109-260A8C965ED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75818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microsoft.com/office/2007/relationships/hdphoto" Target="../media/hdphoto1.wd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9" name="Picture 98">
            <a:extLst>
              <a:ext uri="{FF2B5EF4-FFF2-40B4-BE49-F238E27FC236}">
                <a16:creationId xmlns:a16="http://schemas.microsoft.com/office/drawing/2014/main" id="{AA78BBCF-2634-4089-8492-D8569E905F67}"/>
              </a:ext>
            </a:extLst>
          </p:cNvPr>
          <p:cNvPicPr>
            <a:picLocks noChangeAspect="1"/>
          </p:cNvPicPr>
          <p:nvPr/>
        </p:nvPicPr>
        <p:blipFill rotWithShape="1"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backgroundRemoval t="10000" b="90000" l="10000" r="90000"/>
                    </a14:imgEffect>
                  </a14:imgLayer>
                </a14:imgProps>
              </a:ext>
            </a:extLst>
          </a:blip>
          <a:srcRect l="35216" t="9860" r="35722" b="40504"/>
          <a:stretch/>
        </p:blipFill>
        <p:spPr>
          <a:xfrm>
            <a:off x="7372538" y="1619794"/>
            <a:ext cx="4421349" cy="5638238"/>
          </a:xfrm>
          <a:prstGeom prst="rect">
            <a:avLst/>
          </a:prstGeom>
        </p:spPr>
      </p:pic>
      <p:sp>
        <p:nvSpPr>
          <p:cNvPr id="75" name="TextBox 74">
            <a:extLst>
              <a:ext uri="{FF2B5EF4-FFF2-40B4-BE49-F238E27FC236}">
                <a16:creationId xmlns:a16="http://schemas.microsoft.com/office/drawing/2014/main" id="{966C81A6-8FBD-44BD-9DF5-A762864663F9}"/>
              </a:ext>
            </a:extLst>
          </p:cNvPr>
          <p:cNvSpPr txBox="1"/>
          <p:nvPr/>
        </p:nvSpPr>
        <p:spPr>
          <a:xfrm>
            <a:off x="0" y="604461"/>
            <a:ext cx="21825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2000" b="1" dirty="0">
                <a:latin typeface="Berlin Sans FB Demi" panose="020E0802020502020306" pitchFamily="34" charset="0"/>
                <a:ea typeface="SamsungOne 800" panose="020B0903030303020204" pitchFamily="34" charset="0"/>
              </a:rPr>
              <a:t>CLASH OF THE</a:t>
            </a:r>
            <a:endParaRPr lang="en-US" sz="20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sp>
        <p:nvSpPr>
          <p:cNvPr id="93" name="TextBox 92">
            <a:extLst>
              <a:ext uri="{FF2B5EF4-FFF2-40B4-BE49-F238E27FC236}">
                <a16:creationId xmlns:a16="http://schemas.microsoft.com/office/drawing/2014/main" id="{52DB02A4-569F-4135-9840-A60286D3E03F}"/>
              </a:ext>
            </a:extLst>
          </p:cNvPr>
          <p:cNvSpPr txBox="1"/>
          <p:nvPr/>
        </p:nvSpPr>
        <p:spPr>
          <a:xfrm>
            <a:off x="1756232" y="436120"/>
            <a:ext cx="209116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CLAWS</a:t>
            </a:r>
            <a:endParaRPr lang="en-IN" sz="3600" dirty="0">
              <a:latin typeface="Berlin Sans FB Demi" panose="020E0802020502020306" pitchFamily="34" charset="0"/>
            </a:endParaRPr>
          </a:p>
        </p:txBody>
      </p:sp>
      <p:sp>
        <p:nvSpPr>
          <p:cNvPr id="100" name="TextBox 99">
            <a:extLst>
              <a:ext uri="{FF2B5EF4-FFF2-40B4-BE49-F238E27FC236}">
                <a16:creationId xmlns:a16="http://schemas.microsoft.com/office/drawing/2014/main" id="{DD060EA0-A6D1-484F-8987-38123CE63233}"/>
              </a:ext>
            </a:extLst>
          </p:cNvPr>
          <p:cNvSpPr txBox="1"/>
          <p:nvPr/>
        </p:nvSpPr>
        <p:spPr>
          <a:xfrm>
            <a:off x="545760" y="1562286"/>
            <a:ext cx="6260481" cy="550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R.V.College</a:t>
            </a:r>
            <a:r>
              <a:rPr lang="en-US" sz="36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of </a:t>
            </a:r>
            <a:r>
              <a:rPr lang="en-US" sz="3600" b="1" err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Engineering</a:t>
            </a:r>
            <a:r>
              <a:rPr lang="en-US" sz="3600" b="1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_Crashers</a:t>
            </a:r>
            <a:endParaRPr lang="en-US" sz="3600" b="1" dirty="0">
              <a:solidFill>
                <a:srgbClr val="E81B25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  <a:p>
            <a:pPr algn="ctr"/>
            <a:r>
              <a:rPr lang="en-US" sz="4000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Your Autonomous AI Research Analyst</a:t>
            </a:r>
          </a:p>
          <a:p>
            <a:pPr algn="ctr"/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Priyam Patel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Samarth Bohra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4000" b="1" dirty="0" err="1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Bedant</a:t>
            </a: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 Shaurya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  <a:t>Sarthak Chavare</a:t>
            </a:r>
            <a:br>
              <a:rPr lang="en-US" sz="4000" b="1" dirty="0">
                <a:solidFill>
                  <a:schemeClr val="tx2"/>
                </a:solidFill>
                <a:latin typeface="Berlin Sans FB Demi" panose="020E0802020502020306" pitchFamily="34" charset="0"/>
                <a:ea typeface="SamsungOne 800" panose="020B0903030303020204" pitchFamily="34" charset="0"/>
              </a:rPr>
            </a:br>
            <a:endParaRPr lang="en-US" sz="4000" b="1" dirty="0">
              <a:solidFill>
                <a:schemeClr val="tx2"/>
              </a:solidFill>
              <a:latin typeface="Berlin Sans FB Demi" panose="020E0802020502020306" pitchFamily="34" charset="0"/>
              <a:ea typeface="SamsungOne 800" panose="020B0903030303020204" pitchFamily="34" charset="0"/>
            </a:endParaRP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8263B24E-BBCD-4BAC-9AEF-81547E82C9E5}"/>
              </a:ext>
            </a:extLst>
          </p:cNvPr>
          <p:cNvGrpSpPr/>
          <p:nvPr/>
        </p:nvGrpSpPr>
        <p:grpSpPr>
          <a:xfrm>
            <a:off x="137355" y="46746"/>
            <a:ext cx="3814159" cy="639045"/>
            <a:chOff x="137355" y="133834"/>
            <a:chExt cx="3814159" cy="639045"/>
          </a:xfrm>
        </p:grpSpPr>
        <p:pic>
          <p:nvPicPr>
            <p:cNvPr id="21" name="Picture 20">
              <a:extLst>
                <a:ext uri="{FF2B5EF4-FFF2-40B4-BE49-F238E27FC236}">
                  <a16:creationId xmlns:a16="http://schemas.microsoft.com/office/drawing/2014/main" id="{3C9D2D8C-378C-4311-B59D-9891D5378E8B}"/>
                </a:ext>
              </a:extLst>
            </p:cNvPr>
            <p:cNvPicPr>
              <a:picLocks noChangeAspect="1"/>
            </p:cNvPicPr>
            <p:nvPr/>
          </p:nvPicPr>
          <p:blipFill>
            <a:blip r:embed="rId4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37355" y="133834"/>
              <a:ext cx="974396" cy="639045"/>
            </a:xfrm>
            <a:prstGeom prst="rect">
              <a:avLst/>
            </a:prstGeom>
          </p:spPr>
        </p:pic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5AA001E0-3B05-4E97-9F59-DA7472558885}"/>
                </a:ext>
              </a:extLst>
            </p:cNvPr>
            <p:cNvSpPr txBox="1"/>
            <p:nvPr/>
          </p:nvSpPr>
          <p:spPr>
            <a:xfrm>
              <a:off x="1017814" y="244337"/>
              <a:ext cx="2933700" cy="36933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b="1" dirty="0">
                  <a:latin typeface="Berlin Sans FB Demi" panose="020E0802020502020306" pitchFamily="34" charset="0"/>
                  <a:ea typeface="SamsungOne 800" panose="020B0903030303020204" pitchFamily="34" charset="0"/>
                </a:rPr>
                <a:t>| Tech Management, SRI-B</a:t>
              </a:r>
              <a:endParaRPr lang="en-US" b="1" dirty="0">
                <a:solidFill>
                  <a:srgbClr val="E81B25"/>
                </a:solidFill>
                <a:latin typeface="Berlin Sans FB Demi" panose="020E0802020502020306" pitchFamily="34" charset="0"/>
                <a:ea typeface="SamsungOne 800" panose="020B0903030303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35473195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609600" y="1683061"/>
            <a:ext cx="11174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We Selected This Theme — GenAI Research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6A38DBA-7306-0906-57C2-EC9E28BC0F4F}"/>
              </a:ext>
            </a:extLst>
          </p:cNvPr>
          <p:cNvSpPr txBox="1"/>
          <p:nvPr/>
        </p:nvSpPr>
        <p:spPr>
          <a:xfrm>
            <a:off x="609600" y="2267836"/>
            <a:ext cx="6400855" cy="477053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The Problem</a:t>
            </a:r>
          </a:p>
          <a:p>
            <a:r>
              <a:rPr lang="en-US" sz="1600" dirty="0"/>
              <a:t>AI research is growing faster than humans can consume it.</a:t>
            </a:r>
          </a:p>
          <a:p>
            <a:r>
              <a:rPr lang="en-US" sz="1600" dirty="0"/>
              <a:t>Every single day: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200+ new AI papers are published on </a:t>
            </a:r>
            <a:r>
              <a:rPr lang="en-US" sz="1600" dirty="0" err="1"/>
              <a:t>ArXiv</a:t>
            </a:r>
            <a:r>
              <a:rPr lang="en-US" sz="1600" dirty="0"/>
              <a:t>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Dozens of AI repositories trend on GitHub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Important AI news gets buried in noise </a:t>
            </a:r>
          </a:p>
          <a:p>
            <a:pPr marL="457200" indent="-457200">
              <a:buFont typeface="+mj-lt"/>
              <a:buAutoNum type="arabicPeriod"/>
            </a:pPr>
            <a:r>
              <a:rPr lang="en-US" sz="1600" dirty="0"/>
              <a:t>Students and researchers spend hours filtering information manually 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r>
              <a:rPr lang="en-US" sz="1600" b="1" dirty="0"/>
              <a:t>Who Faces This Problem?</a:t>
            </a:r>
          </a:p>
          <a:p>
            <a:r>
              <a:rPr lang="en-US" sz="1600" b="1" dirty="0"/>
              <a:t>🎓 Students</a:t>
            </a:r>
          </a:p>
          <a:p>
            <a:r>
              <a:rPr lang="en-US" sz="1600" dirty="0"/>
              <a:t>Cannot keep up with latest LLM and GenAI advancements</a:t>
            </a:r>
          </a:p>
          <a:p>
            <a:r>
              <a:rPr lang="en-US" sz="1600" b="1" dirty="0"/>
              <a:t>👨‍💻 Developers</a:t>
            </a:r>
          </a:p>
          <a:p>
            <a:r>
              <a:rPr lang="en-US" sz="1600" dirty="0"/>
              <a:t>Miss important open-source tools and frameworks</a:t>
            </a:r>
          </a:p>
          <a:p>
            <a:r>
              <a:rPr lang="en-US" sz="1600" b="1" dirty="0"/>
              <a:t>🧠 Researchers</a:t>
            </a:r>
          </a:p>
          <a:p>
            <a:r>
              <a:rPr lang="en-US" sz="1600" dirty="0"/>
              <a:t>Waste time filtering irrelevant papers</a:t>
            </a:r>
          </a:p>
          <a:p>
            <a:r>
              <a:rPr lang="en-US" sz="1600" b="1" dirty="0"/>
              <a:t>👔 Tech Leads</a:t>
            </a:r>
          </a:p>
          <a:p>
            <a:r>
              <a:rPr lang="en-US" sz="1600" dirty="0"/>
              <a:t>Need concise weekly updates instead of information overload</a:t>
            </a:r>
          </a:p>
          <a:p>
            <a:pPr marL="457200" indent="-457200">
              <a:buFont typeface="+mj-lt"/>
              <a:buAutoNum type="arabicPeriod"/>
            </a:pPr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145180342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2779A3-8ABA-530C-EC47-2195201761A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3989D1CA-04BD-DE6A-30FF-FE272E0E2841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BF099057-80FC-1ECB-1385-263D72650100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6B525F79-1394-1E6D-773A-A4A20DA09A77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6A63B394-9002-8891-EC63-82304BA1EF60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Problem Statement</a:t>
            </a:r>
            <a:endParaRPr lang="en-US" sz="4267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A2E78A2-D5F0-2A23-9CD9-B9BCB7A83EA9}"/>
              </a:ext>
            </a:extLst>
          </p:cNvPr>
          <p:cNvSpPr txBox="1"/>
          <p:nvPr/>
        </p:nvSpPr>
        <p:spPr>
          <a:xfrm>
            <a:off x="609600" y="1683061"/>
            <a:ext cx="11174083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/>
              <a:t>Why We Selected This Theme — GenAI Research</a:t>
            </a:r>
            <a:endParaRPr lang="en-IN" sz="3200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5E2F736-96A3-F5E0-B25D-0E56BE9DA544}"/>
              </a:ext>
            </a:extLst>
          </p:cNvPr>
          <p:cNvSpPr txBox="1"/>
          <p:nvPr/>
        </p:nvSpPr>
        <p:spPr>
          <a:xfrm>
            <a:off x="609600" y="2267836"/>
            <a:ext cx="4942250" cy="35394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600" b="1" dirty="0"/>
              <a:t>Why This Problem Matters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AI evolves weekly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Missing trends means falling behind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Reading full papers is time-consuming </a:t>
            </a:r>
          </a:p>
          <a:p>
            <a:pPr marL="342900" indent="-342900">
              <a:buFont typeface="+mj-lt"/>
              <a:buAutoNum type="arabicPeriod"/>
            </a:pPr>
            <a:r>
              <a:rPr lang="en-US" sz="1600" dirty="0"/>
              <a:t>Existing newsletters are generic and not personalized</a:t>
            </a:r>
          </a:p>
          <a:p>
            <a:endParaRPr lang="en-US" sz="1600" dirty="0"/>
          </a:p>
          <a:p>
            <a:r>
              <a:rPr lang="en-US" sz="1600" b="1" dirty="0"/>
              <a:t>💡 Opportunity</a:t>
            </a:r>
          </a:p>
          <a:p>
            <a:r>
              <a:rPr lang="en-US" sz="1600" dirty="0"/>
              <a:t>Build an autonomous AI agent that: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Tracks research automatically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Summarizes papers intelligently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Highlights important innovations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1600" dirty="0"/>
              <a:t>Delivers concise weekly digests 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  <a:p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1749170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Current Solution &amp; Gaps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🔍 Existing Solutions</a:t>
            </a:r>
          </a:p>
          <a:p>
            <a:r>
              <a:rPr lang="en-IN" b="1" dirty="0"/>
              <a:t>Current Platforms: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ArXiv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GitHub Trending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 err="1"/>
              <a:t>PapersWithCode</a:t>
            </a:r>
            <a:r>
              <a:rPr lang="en-IN" dirty="0"/>
              <a:t>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AI newsletters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Twitter/X AI communities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ED4A954-2C9A-2307-28B3-F27DC897F465}"/>
              </a:ext>
            </a:extLst>
          </p:cNvPr>
          <p:cNvSpPr txBox="1"/>
          <p:nvPr/>
        </p:nvSpPr>
        <p:spPr>
          <a:xfrm>
            <a:off x="6311043" y="1633728"/>
            <a:ext cx="4328493" cy="369331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❌ </a:t>
            </a:r>
            <a:r>
              <a:rPr lang="en-US" b="1" dirty="0"/>
              <a:t>What’s Missing?</a:t>
            </a:r>
          </a:p>
          <a:p>
            <a:r>
              <a:rPr lang="en-US" b="1" dirty="0"/>
              <a:t>Problems with Existing Solutions</a:t>
            </a:r>
          </a:p>
          <a:p>
            <a:r>
              <a:rPr lang="en-US" b="1" dirty="0"/>
              <a:t>Information Overload</a:t>
            </a:r>
          </a:p>
          <a:p>
            <a:r>
              <a:rPr lang="en-US" dirty="0"/>
              <a:t>Too many papers, no prioritization</a:t>
            </a:r>
          </a:p>
          <a:p>
            <a:r>
              <a:rPr lang="en-US" b="1" dirty="0"/>
              <a:t>No Personalization</a:t>
            </a:r>
          </a:p>
          <a:p>
            <a:r>
              <a:rPr lang="en-US" dirty="0"/>
              <a:t>Generic newsletters for everyone</a:t>
            </a:r>
          </a:p>
          <a:p>
            <a:r>
              <a:rPr lang="en-US" b="1" dirty="0"/>
              <a:t>No Cross-Platform Intelligence</a:t>
            </a:r>
          </a:p>
          <a:p>
            <a:r>
              <a:rPr lang="en-US" dirty="0"/>
              <a:t>Papers, repos, and news are disconnected</a:t>
            </a:r>
          </a:p>
          <a:p>
            <a:r>
              <a:rPr lang="en-US" b="1" dirty="0"/>
              <a:t>No Actionable Summaries</a:t>
            </a:r>
          </a:p>
          <a:p>
            <a:r>
              <a:rPr lang="en-US" dirty="0"/>
              <a:t>Users still need to read long abstracts</a:t>
            </a:r>
          </a:p>
          <a:p>
            <a:r>
              <a:rPr lang="en-US" b="1" dirty="0"/>
              <a:t>Manual Effort</a:t>
            </a:r>
          </a:p>
          <a:p>
            <a:r>
              <a:rPr lang="en-US" dirty="0"/>
              <a:t>Requires constant checking across platforms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DDC9B31-F505-5D80-8603-AE9440BC5BC3}"/>
              </a:ext>
            </a:extLst>
          </p:cNvPr>
          <p:cNvSpPr txBox="1"/>
          <p:nvPr/>
        </p:nvSpPr>
        <p:spPr>
          <a:xfrm>
            <a:off x="740496" y="4019909"/>
            <a:ext cx="4813497" cy="230832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🚨 Gap in the Market</a:t>
            </a:r>
          </a:p>
          <a:p>
            <a:r>
              <a:rPr lang="en-US" dirty="0"/>
              <a:t>There is no autonomous AI-powered system that:</a:t>
            </a:r>
          </a:p>
          <a:p>
            <a:r>
              <a:rPr lang="en-US" dirty="0"/>
              <a:t>Curates AI research </a:t>
            </a:r>
          </a:p>
          <a:p>
            <a:r>
              <a:rPr lang="en-US" dirty="0"/>
              <a:t>Summarizes papers </a:t>
            </a:r>
          </a:p>
          <a:p>
            <a:r>
              <a:rPr lang="en-US" dirty="0"/>
              <a:t>Tracks GitHub trends </a:t>
            </a:r>
          </a:p>
          <a:p>
            <a:r>
              <a:rPr lang="en-US" dirty="0"/>
              <a:t>Maintains memory </a:t>
            </a:r>
          </a:p>
          <a:p>
            <a:r>
              <a:rPr lang="en-US" dirty="0"/>
              <a:t>Delivers multi-channel digests automatically</a:t>
            </a:r>
          </a:p>
          <a:p>
            <a:endParaRPr lang="en-IN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Your Solutions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✅ What We Built — </a:t>
            </a:r>
            <a:r>
              <a:rPr lang="en-IN" b="1" dirty="0" err="1"/>
              <a:t>ResearchRadar</a:t>
            </a:r>
            <a:endParaRPr lang="en-IN" b="1" dirty="0"/>
          </a:p>
          <a:p>
            <a:r>
              <a:rPr lang="en-IN" b="1" dirty="0"/>
              <a:t>📡 </a:t>
            </a:r>
            <a:r>
              <a:rPr lang="en-IN" b="1" dirty="0" err="1"/>
              <a:t>ResearchRadar</a:t>
            </a:r>
            <a:endParaRPr lang="en-IN" b="1" dirty="0"/>
          </a:p>
          <a:p>
            <a:r>
              <a:rPr lang="en-IN" b="1" dirty="0"/>
              <a:t>An autonomous AI-powered research digest agent.</a:t>
            </a:r>
          </a:p>
          <a:p>
            <a:r>
              <a:rPr lang="en-IN" b="1" dirty="0"/>
              <a:t>It: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Fetches latest AI papers from </a:t>
            </a:r>
            <a:r>
              <a:rPr lang="en-IN" dirty="0" err="1"/>
              <a:t>ArXiv</a:t>
            </a:r>
            <a:r>
              <a:rPr lang="en-IN" dirty="0"/>
              <a:t>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Tracks trending GitHub repositories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Collects AI news headlines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Uses </a:t>
            </a:r>
            <a:r>
              <a:rPr lang="en-IN" dirty="0" err="1"/>
              <a:t>Groq</a:t>
            </a:r>
            <a:r>
              <a:rPr lang="en-IN" dirty="0"/>
              <a:t> LLMs to summarize research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Generates professional DOCX digests </a:t>
            </a:r>
          </a:p>
          <a:p>
            <a:pPr marL="342900" indent="-342900">
              <a:buFont typeface="+mj-lt"/>
              <a:buAutoNum type="arabicPeriod"/>
            </a:pPr>
            <a:r>
              <a:rPr lang="en-IN" dirty="0"/>
              <a:t>Delivers updates through Telegram &amp; Email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  <a:p>
            <a:r>
              <a:rPr lang="en-US" b="1" dirty="0"/>
              <a:t>🧠 Core Idea</a:t>
            </a:r>
          </a:p>
          <a:p>
            <a:r>
              <a:rPr lang="en-US" dirty="0"/>
              <a:t>Instead of making users search for information,</a:t>
            </a:r>
            <a:br>
              <a:rPr lang="en-US" dirty="0"/>
            </a:br>
            <a:r>
              <a:rPr lang="en-US" dirty="0" err="1"/>
              <a:t>ResearchRadar</a:t>
            </a:r>
            <a:r>
              <a:rPr lang="en-US" dirty="0"/>
              <a:t> brings curated intelligence directly to them.</a:t>
            </a:r>
          </a:p>
          <a:p>
            <a:pPr marL="342900" indent="-342900">
              <a:buFont typeface="+mj-lt"/>
              <a:buAutoNum type="arabicPeriod"/>
            </a:pP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243C4BC-A4B7-453B-B8AB-119DB05168A6}"/>
              </a:ext>
            </a:extLst>
          </p:cNvPr>
          <p:cNvSpPr txBox="1"/>
          <p:nvPr/>
        </p:nvSpPr>
        <p:spPr>
          <a:xfrm>
            <a:off x="6382744" y="219456"/>
            <a:ext cx="5504456" cy="61863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⭐ Key Features</a:t>
            </a:r>
          </a:p>
          <a:p>
            <a:r>
              <a:rPr lang="en-US" b="1" dirty="0"/>
              <a:t>🔍 Smart Research Tracking</a:t>
            </a:r>
          </a:p>
          <a:p>
            <a:r>
              <a:rPr lang="en-US" dirty="0"/>
              <a:t>Tracks:</a:t>
            </a:r>
          </a:p>
          <a:p>
            <a:r>
              <a:rPr lang="en-US" dirty="0" err="1"/>
              <a:t>LLMs,AI</a:t>
            </a:r>
            <a:r>
              <a:rPr lang="en-US" dirty="0"/>
              <a:t> Agents, RAG, Diffusion Models, RLHF, Efficient AI</a:t>
            </a:r>
          </a:p>
          <a:p>
            <a:endParaRPr lang="en-US" dirty="0"/>
          </a:p>
          <a:p>
            <a:r>
              <a:rPr lang="en-IN" b="1" dirty="0"/>
              <a:t>🧠 </a:t>
            </a:r>
            <a:r>
              <a:rPr lang="en-IN" b="1" dirty="0" err="1"/>
              <a:t>Groq</a:t>
            </a:r>
            <a:r>
              <a:rPr lang="en-IN" b="1" dirty="0"/>
              <a:t> LLM Summarization</a:t>
            </a:r>
          </a:p>
          <a:p>
            <a:r>
              <a:rPr lang="en-IN" dirty="0"/>
              <a:t>Every paper gets:</a:t>
            </a:r>
          </a:p>
          <a:p>
            <a:r>
              <a:rPr lang="en-IN" dirty="0"/>
              <a:t>What? </a:t>
            </a:r>
          </a:p>
          <a:p>
            <a:r>
              <a:rPr lang="en-IN" dirty="0"/>
              <a:t>How? </a:t>
            </a:r>
          </a:p>
          <a:p>
            <a:r>
              <a:rPr lang="en-IN" dirty="0"/>
              <a:t>Why it matters? </a:t>
            </a:r>
          </a:p>
          <a:p>
            <a:r>
              <a:rPr lang="en-IN" dirty="0"/>
              <a:t>Novelty score </a:t>
            </a:r>
          </a:p>
          <a:p>
            <a:r>
              <a:rPr lang="en-IN" b="1" dirty="0"/>
              <a:t>⭐ “Top Pick” Recommendation</a:t>
            </a:r>
          </a:p>
          <a:p>
            <a:r>
              <a:rPr lang="en-IN" dirty="0"/>
              <a:t>AI selects the most impactful paper automatically</a:t>
            </a:r>
          </a:p>
          <a:p>
            <a:r>
              <a:rPr lang="en-IN" b="1" dirty="0"/>
              <a:t>💾 Memory System</a:t>
            </a:r>
          </a:p>
          <a:p>
            <a:r>
              <a:rPr lang="en-IN" dirty="0"/>
              <a:t>Avoids duplicate papers using persistent tracking</a:t>
            </a:r>
          </a:p>
          <a:p>
            <a:r>
              <a:rPr lang="en-IN" b="1" dirty="0"/>
              <a:t>📄 Professional DOCX Digest</a:t>
            </a:r>
          </a:p>
          <a:p>
            <a:r>
              <a:rPr lang="en-IN" dirty="0"/>
              <a:t>Auto-generated research report</a:t>
            </a:r>
          </a:p>
          <a:p>
            <a:r>
              <a:rPr lang="en-IN" b="1" dirty="0"/>
              <a:t>📬 Multi-Channel Delivery</a:t>
            </a:r>
          </a:p>
          <a:p>
            <a:r>
              <a:rPr lang="en-IN" dirty="0"/>
              <a:t>Telegram </a:t>
            </a:r>
          </a:p>
          <a:p>
            <a:r>
              <a:rPr lang="en-IN" dirty="0"/>
              <a:t>Gmail </a:t>
            </a:r>
          </a:p>
          <a:p>
            <a:r>
              <a:rPr lang="en-IN" dirty="0"/>
              <a:t>(Future: WhatsApp)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052589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Demo/Product Walkthrough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🎥 Product Walkthrough</a:t>
            </a:r>
          </a:p>
          <a:p>
            <a:r>
              <a:rPr lang="en-IN" b="1" dirty="0"/>
              <a:t>Step 1 — Autonomous Trigger</a:t>
            </a:r>
          </a:p>
          <a:p>
            <a:r>
              <a:rPr lang="en-IN" dirty="0"/>
              <a:t>Every Monday at 8 AM,</a:t>
            </a:r>
            <a:br>
              <a:rPr lang="en-IN" dirty="0"/>
            </a:br>
            <a:r>
              <a:rPr lang="en-IN" dirty="0" err="1"/>
              <a:t>OpenClaw</a:t>
            </a:r>
            <a:r>
              <a:rPr lang="en-IN" dirty="0"/>
              <a:t> HEARTBEAT automatically starts the pipeline</a:t>
            </a:r>
          </a:p>
          <a:p>
            <a:endParaRPr lang="en-IN" dirty="0"/>
          </a:p>
          <a:p>
            <a:r>
              <a:rPr lang="en-IN" b="1" dirty="0"/>
              <a:t>Step 2 — Data Collection</a:t>
            </a:r>
          </a:p>
          <a:p>
            <a:r>
              <a:rPr lang="en-IN" dirty="0" err="1"/>
              <a:t>ResearchRadar</a:t>
            </a:r>
            <a:r>
              <a:rPr lang="en-IN" dirty="0"/>
              <a:t> fetches:</a:t>
            </a:r>
          </a:p>
          <a:p>
            <a:r>
              <a:rPr lang="en-IN" dirty="0"/>
              <a:t>Latest </a:t>
            </a:r>
            <a:r>
              <a:rPr lang="en-IN" dirty="0" err="1"/>
              <a:t>ArXiv</a:t>
            </a:r>
            <a:r>
              <a:rPr lang="en-IN" dirty="0"/>
              <a:t> papers </a:t>
            </a:r>
          </a:p>
          <a:p>
            <a:r>
              <a:rPr lang="en-IN" dirty="0"/>
              <a:t>Trending GitHub repos </a:t>
            </a:r>
          </a:p>
          <a:p>
            <a:r>
              <a:rPr lang="en-IN" dirty="0"/>
              <a:t>AI news headlines </a:t>
            </a:r>
          </a:p>
          <a:p>
            <a:endParaRPr lang="en-IN" dirty="0"/>
          </a:p>
          <a:p>
            <a:r>
              <a:rPr lang="en-IN" b="1" dirty="0"/>
              <a:t>Step 3 — AI Processing</a:t>
            </a:r>
          </a:p>
          <a:p>
            <a:r>
              <a:rPr lang="en-IN" dirty="0" err="1"/>
              <a:t>Groq</a:t>
            </a:r>
            <a:r>
              <a:rPr lang="en-IN" dirty="0"/>
              <a:t> LLM:</a:t>
            </a:r>
          </a:p>
          <a:p>
            <a:r>
              <a:rPr lang="en-IN" dirty="0"/>
              <a:t>Summarizes papers </a:t>
            </a:r>
          </a:p>
          <a:p>
            <a:r>
              <a:rPr lang="en-IN" dirty="0"/>
              <a:t>Scores novelty </a:t>
            </a:r>
          </a:p>
          <a:p>
            <a:r>
              <a:rPr lang="en-IN" dirty="0"/>
              <a:t>Selects Top Pick </a:t>
            </a:r>
          </a:p>
          <a:p>
            <a:br>
              <a:rPr lang="en-IN" dirty="0"/>
            </a:br>
            <a:endParaRPr lang="en-IN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CE5D27F-69E2-2C10-EFDA-E3D239A5A8BA}"/>
              </a:ext>
            </a:extLst>
          </p:cNvPr>
          <p:cNvSpPr txBox="1"/>
          <p:nvPr/>
        </p:nvSpPr>
        <p:spPr>
          <a:xfrm>
            <a:off x="6849374" y="1682945"/>
            <a:ext cx="4327338" cy="34163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4 — DOCX Generation</a:t>
            </a:r>
          </a:p>
          <a:p>
            <a:r>
              <a:rPr lang="en-IN" dirty="0"/>
              <a:t>Professional digest generated automatically:</a:t>
            </a:r>
          </a:p>
          <a:p>
            <a:r>
              <a:rPr lang="en-IN" dirty="0"/>
              <a:t>Top Pick </a:t>
            </a:r>
          </a:p>
          <a:p>
            <a:r>
              <a:rPr lang="en-IN" dirty="0"/>
              <a:t>Paper summaries </a:t>
            </a:r>
          </a:p>
          <a:p>
            <a:r>
              <a:rPr lang="en-IN" dirty="0"/>
              <a:t>GitHub repos </a:t>
            </a:r>
          </a:p>
          <a:p>
            <a:r>
              <a:rPr lang="en-IN" dirty="0"/>
              <a:t>News headlines </a:t>
            </a:r>
          </a:p>
          <a:p>
            <a:endParaRPr lang="en-IN" dirty="0"/>
          </a:p>
          <a:p>
            <a:r>
              <a:rPr lang="en-IN" b="1" dirty="0"/>
              <a:t>Step 5 — Delivery</a:t>
            </a:r>
          </a:p>
          <a:p>
            <a:r>
              <a:rPr lang="en-IN" dirty="0"/>
              <a:t>Digest delivered instantly through:</a:t>
            </a:r>
          </a:p>
          <a:p>
            <a:r>
              <a:rPr lang="en-IN" dirty="0"/>
              <a:t>Telegram bot </a:t>
            </a:r>
          </a:p>
          <a:p>
            <a:r>
              <a:rPr lang="en-IN" dirty="0"/>
              <a:t>Gmail attachment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529606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959B6564-1A56-3398-CEF4-AF0237D25DB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3258491"/>
              </p:ext>
            </p:extLst>
          </p:nvPr>
        </p:nvGraphicFramePr>
        <p:xfrm>
          <a:off x="609600" y="1594076"/>
          <a:ext cx="10515600" cy="3291840"/>
        </p:xfrm>
        <a:graphic>
          <a:graphicData uri="http://schemas.openxmlformats.org/drawingml/2006/table">
            <a:tbl>
              <a:tblPr/>
              <a:tblGrid>
                <a:gridCol w="5257800">
                  <a:extLst>
                    <a:ext uri="{9D8B030D-6E8A-4147-A177-3AD203B41FA5}">
                      <a16:colId xmlns:a16="http://schemas.microsoft.com/office/drawing/2014/main" val="2841913001"/>
                    </a:ext>
                  </a:extLst>
                </a:gridCol>
                <a:gridCol w="5257800">
                  <a:extLst>
                    <a:ext uri="{9D8B030D-6E8A-4147-A177-3AD203B41FA5}">
                      <a16:colId xmlns:a16="http://schemas.microsoft.com/office/drawing/2014/main" val="15263918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Component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Technology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7816815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Language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069138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LLM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Groq llama-3.3-70b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70929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Document Builder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python-docx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6004006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APIs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ArXiv API, GitHub API, Google RSS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54755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Messaging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Telegram Bot API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6277746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Email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Gmail SMTP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96525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Scheduling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OpenClaw HEARTBEAT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40424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Memory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JSON Persistence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4679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566787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CCA2D4-D9A7-A37A-9083-BCD64811FC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58BE3E45-B3D4-B74A-5F12-93FD6E0AC307}"/>
              </a:ext>
            </a:extLst>
          </p:cNvPr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>
            <a:extLst>
              <a:ext uri="{FF2B5EF4-FFF2-40B4-BE49-F238E27FC236}">
                <a16:creationId xmlns:a16="http://schemas.microsoft.com/office/drawing/2014/main" id="{F3A66229-95C5-9B2D-FB25-6AFC860A8B5A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9AB6EF9E-DBE1-03C2-AE1A-2DF9D0F17FA8}"/>
              </a:ext>
            </a:extLst>
          </p:cNvPr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0DBF46C1-C2CB-06DA-BB01-C86AC96C848D}"/>
              </a:ext>
            </a:extLst>
          </p:cNvPr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Tech &amp; Architecture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4210434E-9B82-6BAC-DE58-25197F93E0F4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25B81101-A6E3-5E82-E8A6-51E3294E0B0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05245" y="1097280"/>
            <a:ext cx="5677155" cy="5462072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48D914B4-901B-4C0D-3BE4-5B8A23119B67}"/>
              </a:ext>
            </a:extLst>
          </p:cNvPr>
          <p:cNvSpPr txBox="1"/>
          <p:nvPr/>
        </p:nvSpPr>
        <p:spPr>
          <a:xfrm>
            <a:off x="1584960" y="3167390"/>
            <a:ext cx="2317622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/>
              <a:t>SYSTEM FLOW</a:t>
            </a:r>
            <a:endParaRPr lang="en-IN" sz="2800" b="1" dirty="0"/>
          </a:p>
        </p:txBody>
      </p:sp>
    </p:spTree>
    <p:extLst>
      <p:ext uri="{BB962C8B-B14F-4D97-AF65-F5344CB8AC3E}">
        <p14:creationId xmlns:p14="http://schemas.microsoft.com/office/powerpoint/2010/main" val="288430621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40588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Use cases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7835181" y="-177232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r>
              <a:rPr lang="en-IN" b="1" dirty="0"/>
              <a:t>📈 Scale Potential</a:t>
            </a:r>
          </a:p>
          <a:p>
            <a:r>
              <a:rPr lang="en-IN" dirty="0"/>
              <a:t>Future possibilities:</a:t>
            </a:r>
          </a:p>
          <a:p>
            <a:r>
              <a:rPr lang="en-IN" dirty="0"/>
              <a:t>Personalized feeds </a:t>
            </a:r>
          </a:p>
          <a:p>
            <a:r>
              <a:rPr lang="en-IN" dirty="0"/>
              <a:t>Enterprise research dashboards </a:t>
            </a:r>
          </a:p>
          <a:p>
            <a:r>
              <a:rPr lang="en-IN" dirty="0"/>
              <a:t>Team collaboration </a:t>
            </a:r>
          </a:p>
          <a:p>
            <a:r>
              <a:rPr lang="en-IN" dirty="0"/>
              <a:t>Semantic paper search </a:t>
            </a:r>
          </a:p>
          <a:p>
            <a:r>
              <a:rPr lang="en-IN" dirty="0"/>
              <a:t>Multi-user SaaS platform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363329" y="1548832"/>
            <a:ext cx="7471852" cy="618630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🌍 Real-Life Impact</a:t>
            </a:r>
          </a:p>
          <a:p>
            <a:endParaRPr lang="en-IN" dirty="0"/>
          </a:p>
          <a:p>
            <a:r>
              <a:rPr lang="en-IN" b="1" dirty="0"/>
              <a:t>🎓 Student Use Case</a:t>
            </a:r>
          </a:p>
          <a:p>
            <a:r>
              <a:rPr lang="en-IN" dirty="0"/>
              <a:t>A student receives weekly AI summaries instead of reading 200+ papers manually.</a:t>
            </a:r>
          </a:p>
          <a:p>
            <a:r>
              <a:rPr lang="en-IN" dirty="0"/>
              <a:t>Time saved: ~5–7 hours/week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👨‍💻 Developer Use Case</a:t>
            </a:r>
          </a:p>
          <a:p>
            <a:r>
              <a:rPr lang="en-IN" dirty="0"/>
              <a:t>Developers discover trending open-source AI tools early.</a:t>
            </a:r>
          </a:p>
          <a:p>
            <a:r>
              <a:rPr lang="en-IN" dirty="0"/>
              <a:t>Result: Faster innovation adoption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🧠 Research Team Use Case</a:t>
            </a:r>
          </a:p>
          <a:p>
            <a:r>
              <a:rPr lang="en-IN" dirty="0"/>
              <a:t>Labs stay updated on latest research directions.</a:t>
            </a:r>
          </a:p>
          <a:p>
            <a:r>
              <a:rPr lang="en-IN" dirty="0"/>
              <a:t>Result: Better research prioritization</a:t>
            </a:r>
            <a:br>
              <a:rPr lang="en-IN" dirty="0"/>
            </a:br>
            <a:endParaRPr lang="en-IN" dirty="0"/>
          </a:p>
          <a:p>
            <a:r>
              <a:rPr lang="en-IN" b="1" dirty="0"/>
              <a:t>👔 Startup/Tech Lead Use Case</a:t>
            </a:r>
          </a:p>
          <a:p>
            <a:r>
              <a:rPr lang="en-IN" dirty="0"/>
              <a:t>Tech leads get concise AI trend intelligence.</a:t>
            </a:r>
          </a:p>
          <a:p>
            <a:r>
              <a:rPr lang="en-IN" dirty="0"/>
              <a:t>Result: Better product &amp; technology decisions</a:t>
            </a:r>
          </a:p>
          <a:p>
            <a:br>
              <a:rPr lang="en-IN" dirty="0"/>
            </a:br>
            <a:br>
              <a:rPr lang="en-IN" dirty="0"/>
            </a:b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7735801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Differentiation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461953" y="1393336"/>
            <a:ext cx="5570547" cy="45243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🚀 Why </a:t>
            </a:r>
            <a:r>
              <a:rPr lang="en-US" b="1" dirty="0" err="1"/>
              <a:t>ResearchRadar</a:t>
            </a:r>
            <a:r>
              <a:rPr lang="en-US" b="1" dirty="0"/>
              <a:t> Stands Out</a:t>
            </a:r>
          </a:p>
          <a:p>
            <a:r>
              <a:rPr lang="en-IN" b="1" dirty="0"/>
              <a:t>🔥 Strong MOAT #1 — Autonomous Intelligence Pipeline</a:t>
            </a:r>
          </a:p>
          <a:p>
            <a:r>
              <a:rPr lang="en-IN" dirty="0"/>
              <a:t>Unlike newsletters,</a:t>
            </a:r>
            <a:br>
              <a:rPr lang="en-IN" dirty="0"/>
            </a:br>
            <a:r>
              <a:rPr lang="en-IN" dirty="0" err="1"/>
              <a:t>ResearchRadar</a:t>
            </a:r>
            <a:r>
              <a:rPr lang="en-IN" dirty="0"/>
              <a:t>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Fetches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Filters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Summarizes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Ranks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IN" dirty="0"/>
              <a:t>Delivers </a:t>
            </a:r>
          </a:p>
          <a:p>
            <a:r>
              <a:rPr lang="en-IN" dirty="0"/>
              <a:t>fully autonomously.</a:t>
            </a:r>
          </a:p>
          <a:p>
            <a:r>
              <a:rPr lang="en-IN" dirty="0"/>
              <a:t>No manual curation required.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US" b="1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DDDD62C-43ED-F0CA-1F4C-94F04D8BE499}"/>
              </a:ext>
            </a:extLst>
          </p:cNvPr>
          <p:cNvSpPr txBox="1"/>
          <p:nvPr/>
        </p:nvSpPr>
        <p:spPr>
          <a:xfrm>
            <a:off x="6032500" y="1393336"/>
            <a:ext cx="5788188" cy="286232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🔥 Strong MOAT #2 — AI + Memory + Multi-Source Fusion</a:t>
            </a:r>
          </a:p>
          <a:p>
            <a:r>
              <a:rPr lang="en-US" dirty="0" err="1"/>
              <a:t>ResearchRadar</a:t>
            </a:r>
            <a:r>
              <a:rPr lang="en-US" dirty="0"/>
              <a:t> combines:</a:t>
            </a:r>
          </a:p>
          <a:p>
            <a:r>
              <a:rPr lang="en-US" dirty="0"/>
              <a:t>AI summarization </a:t>
            </a:r>
          </a:p>
          <a:p>
            <a:r>
              <a:rPr lang="en-US" dirty="0"/>
              <a:t>Persistent memory </a:t>
            </a:r>
          </a:p>
          <a:p>
            <a:r>
              <a:rPr lang="en-US" dirty="0"/>
              <a:t>Research tracking </a:t>
            </a:r>
          </a:p>
          <a:p>
            <a:r>
              <a:rPr lang="en-US" dirty="0"/>
              <a:t>GitHub intelligence </a:t>
            </a:r>
          </a:p>
          <a:p>
            <a:r>
              <a:rPr lang="en-US" dirty="0"/>
              <a:t>News aggregation </a:t>
            </a:r>
          </a:p>
          <a:p>
            <a:r>
              <a:rPr lang="en-US" dirty="0"/>
              <a:t>inside one unified system.</a:t>
            </a:r>
          </a:p>
          <a:p>
            <a:r>
              <a:rPr lang="en-US" dirty="0"/>
              <a:t>Most tools solve only ONE of these problems.</a:t>
            </a:r>
          </a:p>
          <a:p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3ECA4A6-4E5B-F5A0-03BF-85DB4BF83886}"/>
              </a:ext>
            </a:extLst>
          </p:cNvPr>
          <p:cNvSpPr txBox="1"/>
          <p:nvPr/>
        </p:nvSpPr>
        <p:spPr>
          <a:xfrm>
            <a:off x="461953" y="5103674"/>
            <a:ext cx="2811219" cy="175432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💡 Additional Advantage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Completely free stack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Zero API cost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Lightweight architecture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Easy to scale 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74642580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Demo Link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/>
              <a:t>GitHub Repo</a:t>
            </a:r>
            <a:br>
              <a:rPr lang="en-IN" dirty="0"/>
            </a:br>
            <a:r>
              <a:rPr lang="en-IN" dirty="0"/>
              <a:t>Demo Link</a:t>
            </a:r>
            <a:br>
              <a:rPr lang="en-IN" dirty="0"/>
            </a:br>
            <a:r>
              <a:rPr lang="en-IN" dirty="0"/>
              <a:t>Document submitted</a:t>
            </a:r>
          </a:p>
        </p:txBody>
      </p:sp>
    </p:spTree>
    <p:extLst>
      <p:ext uri="{BB962C8B-B14F-4D97-AF65-F5344CB8AC3E}">
        <p14:creationId xmlns:p14="http://schemas.microsoft.com/office/powerpoint/2010/main" val="109827954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2000" cy="85344"/>
          </a:xfrm>
          <a:prstGeom prst="rect">
            <a:avLst/>
          </a:prstGeom>
          <a:solidFill>
            <a:srgbClr val="00B4D8"/>
          </a:solidFill>
          <a:ln w="12700">
            <a:solidFill>
              <a:srgbClr val="00B4D8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solidFill>
            <a:srgbClr val="0077A8"/>
          </a:solidFill>
          <a:ln w="12700">
            <a:solidFill>
              <a:srgbClr val="0077A8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09600" y="219456"/>
            <a:ext cx="1950720" cy="3413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/>
            <a:r>
              <a:rPr lang="en-US" sz="1000" b="1" dirty="0">
                <a:solidFill>
                  <a:schemeClr val="bg1"/>
                </a:solidFill>
              </a:rPr>
              <a:t>Idea</a:t>
            </a:r>
            <a:endParaRPr lang="en-US" sz="1000" dirty="0">
              <a:solidFill>
                <a:schemeClr val="bg1"/>
              </a:solidFill>
            </a:endParaRPr>
          </a:p>
        </p:txBody>
      </p:sp>
      <p:sp>
        <p:nvSpPr>
          <p:cNvPr id="5" name="Text 3"/>
          <p:cNvSpPr/>
          <p:nvPr/>
        </p:nvSpPr>
        <p:spPr>
          <a:xfrm>
            <a:off x="609600" y="670560"/>
            <a:ext cx="10972800" cy="853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4267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&lt;Brownie Slide&gt;</a:t>
            </a:r>
            <a:endParaRPr lang="en-US" sz="4267" dirty="0"/>
          </a:p>
        </p:txBody>
      </p:sp>
      <p:sp>
        <p:nvSpPr>
          <p:cNvPr id="18" name="Text 1">
            <a:extLst>
              <a:ext uri="{FF2B5EF4-FFF2-40B4-BE49-F238E27FC236}">
                <a16:creationId xmlns:a16="http://schemas.microsoft.com/office/drawing/2014/main" id="{B0488D4E-8E6D-456D-9B00-8A96881B3AC1}"/>
              </a:ext>
            </a:extLst>
          </p:cNvPr>
          <p:cNvSpPr/>
          <p:nvPr/>
        </p:nvSpPr>
        <p:spPr>
          <a:xfrm>
            <a:off x="5852160" y="1395928"/>
            <a:ext cx="5120640" cy="5486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/>
            <a:endParaRPr lang="en-US" sz="26666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4DB0243-BB37-4E48-8F2A-F31495290DC7}"/>
              </a:ext>
            </a:extLst>
          </p:cNvPr>
          <p:cNvSpPr txBox="1"/>
          <p:nvPr/>
        </p:nvSpPr>
        <p:spPr>
          <a:xfrm>
            <a:off x="740496" y="1682945"/>
            <a:ext cx="5570547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🍪 Why Judges Will Remember </a:t>
            </a:r>
            <a:r>
              <a:rPr lang="en-IN" b="1" dirty="0" err="1"/>
              <a:t>ResearchRadar</a:t>
            </a:r>
            <a:endParaRPr lang="en-IN" b="1" dirty="0"/>
          </a:p>
          <a:p>
            <a:endParaRPr lang="en-IN" dirty="0"/>
          </a:p>
          <a:p>
            <a:r>
              <a:rPr lang="en-IN" b="1" dirty="0"/>
              <a:t>What Makes It Special?</a:t>
            </a:r>
          </a:p>
          <a:p>
            <a:r>
              <a:rPr lang="en-IN" dirty="0"/>
              <a:t>✅ Solves a REAL problem</a:t>
            </a:r>
            <a:br>
              <a:rPr lang="en-IN" dirty="0"/>
            </a:br>
            <a:r>
              <a:rPr lang="en-IN" dirty="0"/>
              <a:t>✅ Fully autonomous workflow</a:t>
            </a:r>
            <a:br>
              <a:rPr lang="en-IN" dirty="0"/>
            </a:br>
            <a:r>
              <a:rPr lang="en-IN" dirty="0"/>
              <a:t>✅ Real AI integration</a:t>
            </a:r>
            <a:br>
              <a:rPr lang="en-IN" dirty="0"/>
            </a:br>
            <a:r>
              <a:rPr lang="en-IN" dirty="0"/>
              <a:t>✅ Multi-channel delivery</a:t>
            </a:r>
            <a:br>
              <a:rPr lang="en-IN" dirty="0"/>
            </a:br>
            <a:r>
              <a:rPr lang="en-IN" dirty="0"/>
              <a:t>✅ Production-style architecture</a:t>
            </a:r>
            <a:br>
              <a:rPr lang="en-IN" dirty="0"/>
            </a:br>
            <a:r>
              <a:rPr lang="en-IN" dirty="0"/>
              <a:t>✅ Zero-cost scalable stack</a:t>
            </a:r>
            <a:br>
              <a:rPr lang="en-IN" dirty="0"/>
            </a:br>
            <a:r>
              <a:rPr lang="en-IN" dirty="0"/>
              <a:t>✅ Actually useful beyond the hackathon</a:t>
            </a:r>
          </a:p>
          <a:p>
            <a:endParaRPr lang="en-IN" dirty="0"/>
          </a:p>
          <a:p>
            <a:r>
              <a:rPr lang="en-IN" b="1" dirty="0"/>
              <a:t>📡 </a:t>
            </a:r>
            <a:r>
              <a:rPr lang="en-IN" b="1" dirty="0" err="1"/>
              <a:t>ResearchRadar</a:t>
            </a:r>
            <a:endParaRPr lang="en-IN" b="1" dirty="0"/>
          </a:p>
          <a:p>
            <a:r>
              <a:rPr lang="en-IN" b="1" dirty="0"/>
              <a:t>“Because no researcher should drown in information.”</a:t>
            </a:r>
          </a:p>
          <a:p>
            <a:endParaRPr lang="en-IN" dirty="0"/>
          </a:p>
          <a:p>
            <a:r>
              <a:rPr lang="en-IN" b="1" dirty="0"/>
              <a:t>Thank You 🙌</a:t>
            </a:r>
          </a:p>
        </p:txBody>
      </p:sp>
    </p:spTree>
    <p:extLst>
      <p:ext uri="{BB962C8B-B14F-4D97-AF65-F5344CB8AC3E}">
        <p14:creationId xmlns:p14="http://schemas.microsoft.com/office/powerpoint/2010/main" val="23082323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107</TotalTime>
  <Words>864</Words>
  <Application>Microsoft Office PowerPoint</Application>
  <PresentationFormat>Widescreen</PresentationFormat>
  <Paragraphs>234</Paragraphs>
  <Slides>12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7" baseType="lpstr">
      <vt:lpstr>Arial</vt:lpstr>
      <vt:lpstr>Berlin Sans FB Demi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Prakhar Chandrakar ./PRISM /SRI-Bangalore/Professional/Samsung Electronics</dc:creator>
  <cp:lastModifiedBy>Sarthak Chavare</cp:lastModifiedBy>
  <cp:revision>4</cp:revision>
  <dcterms:created xsi:type="dcterms:W3CDTF">2026-04-27T09:11:02Z</dcterms:created>
  <dcterms:modified xsi:type="dcterms:W3CDTF">2026-05-08T18:01:17Z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SCPROP">
    <vt:lpwstr>NSCCustomProperty</vt:lpwstr>
  </property>
</Properties>
</file>